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8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06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2196A6">
              <a:alpha val="25000"/>
            </a:srgbClr>
          </a:solidFill>
          <a:ln w="12700">
            <a:solidFill>
              <a:srgbClr val="2196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2196A6">
              <a:alpha val="15000"/>
            </a:srgbClr>
          </a:solidFill>
          <a:ln w="12700">
            <a:solidFill>
              <a:srgbClr val="2196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PROPOSAL  |  APRIL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BI +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dashboards into active decision-making systems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EXECUTIVE BRIEFING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0" cy="11430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978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data and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548640" cy="11430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9784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4356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and differentiators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548640" cy="11430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50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072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design and data modeling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548640" cy="11430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350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8072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10 to 1,000+ users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548640" cy="11430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7216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platform stands apart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548640" cy="11430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7216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scenarios and outcomes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20040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hours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WBR cycle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2468880" cy="0"/>
          </a:xfrm>
          <a:prstGeom prst="line">
            <a:avLst/>
          </a:prstGeom>
          <a:noFill/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429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prep, not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A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777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Gap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9040" y="141732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1371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shows WHAT happened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17190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WHY, or what was decided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28600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6052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made in meetings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25877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email threads and slide archives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315468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0520" y="3108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rebuild narratives weekly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0520" y="34564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context is lost or re-explained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402336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for risks or 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4325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relies on institutional memory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4663440"/>
            <a:ext cx="5120640" cy="32004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0" y="4681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a lack of data — it is the disconnect between data and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integrated components. One unified platform.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&amp; Visualization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dashboards with KPI cards, trend analysis across revenue, margin, and cost, and department breakdowns. Dynamic filtering by business unit and time period.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82296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 &amp; Decision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6974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Findings, Risks, Actions, and Notes embedded directly in charts. All entries tagged, timestamped, and persisted across reporting periods. Fully searchable.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743200" cy="8229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Data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6974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with fact and dimension tables. Faster queries, consistent metric definitions across teams, and scalable architecture as the business grows.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DIFFERENTIATOR: The commentary layer transforms dashboards from snapshots into a living institutional memory.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DATA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914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 ·  ECS / Fargate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7863840" cy="59436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66420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 REST  ·  Auth / Rate Limiting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322576"/>
            <a:ext cx="7498080" cy="59436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4140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41401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Athena  ·  Databricks  ·  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072384"/>
            <a:ext cx="71323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1638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1638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  ·  Star Schema  ·  Aurora 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3822192"/>
            <a:ext cx="6766560" cy="5943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25880" y="3913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+ INFRA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913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 ·  Terraform  ·  CI/CD  ·  CloudWatch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1417320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0" y="216712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2916936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0" y="3666744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F4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6268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Star Schema: Fact Tables (Revenue, Cost, Profit) + Dim Tables (Date, Org, Product, Dept)  →  Faster queries  ·  Consistent metrics  ·  Scalable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2743200"/>
          </a:xfrm>
          <a:prstGeom prst="rect">
            <a:avLst/>
          </a:prstGeom>
          <a:solidFill>
            <a:srgbClr val="F0FDF4"/>
          </a:solidFill>
          <a:ln w="19050">
            <a:solidFill>
              <a:srgbClr val="2E7D32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65176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Users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$300–$800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$4K–$10K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651760" cy="2743200"/>
          </a:xfrm>
          <a:prstGeom prst="rect">
            <a:avLst/>
          </a:prstGeom>
          <a:solidFill>
            <a:srgbClr val="F0F9FF"/>
          </a:solidFill>
          <a:ln w="19050">
            <a:solidFill>
              <a:srgbClr val="2196A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Users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74720" y="187452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$1,500–$4,000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0" y="260604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880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$18K–$48K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777240"/>
            <a:ext cx="2651760" cy="2743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3A5F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77724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Users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187452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$8,000–$25,000+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260604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880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$100K–$300K+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Staffing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Build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407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Engineers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636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$800K–$1.6M / yr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0" y="411480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5176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Ops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51760" y="4407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Engineers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51760" y="4636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$400K–$800K / yr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11480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407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Stage + Prod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636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~2.25× Prod Cost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411480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4088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4407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SaaS at 100 users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40880" y="4636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$20K–$50K / yr licensing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286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777240"/>
            <a:ext cx="11887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8046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Tableau/Power BI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4760" y="777240"/>
            <a:ext cx="11887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8046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777240"/>
            <a:ext cx="11887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8046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Slack/Email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11887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8046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777240"/>
            <a:ext cx="1463040" cy="4572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8046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234440"/>
            <a:ext cx="2286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2618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visualization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1234440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12618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94760" y="1234440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12618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234440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2618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1234440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26187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60920" y="1234440"/>
            <a:ext cx="1463040" cy="502920"/>
          </a:xfrm>
          <a:prstGeom prst="rect">
            <a:avLst/>
          </a:prstGeom>
          <a:solidFill>
            <a:srgbClr val="EFF9FB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12618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1764792"/>
            <a:ext cx="22860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179222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filtering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1764792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17922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794760" y="1764792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0" y="17922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1764792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17922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72200" y="1764792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0" y="17922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60920" y="1764792"/>
            <a:ext cx="1463040" cy="502920"/>
          </a:xfrm>
          <a:prstGeom prst="rect">
            <a:avLst/>
          </a:prstGeom>
          <a:solidFill>
            <a:srgbClr val="EFF9FB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0" y="17922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20040" y="2295144"/>
            <a:ext cx="2286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23225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commentary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06040" y="2295144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5176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794760" y="2295144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983480" y="2295144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72200" y="2295144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17920" y="23225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360920" y="2295144"/>
            <a:ext cx="1463040" cy="502920"/>
          </a:xfrm>
          <a:prstGeom prst="rect">
            <a:avLst/>
          </a:prstGeom>
          <a:solidFill>
            <a:srgbClr val="EFF9FB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06640" y="23225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20040" y="2825496"/>
            <a:ext cx="22860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28529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tracking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06040" y="2825496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651760" y="28529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794760" y="2825496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0" y="28529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983480" y="2825496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0" y="28529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172200" y="2825496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17920" y="28529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360920" y="2825496"/>
            <a:ext cx="1463040" cy="502920"/>
          </a:xfrm>
          <a:prstGeom prst="rect">
            <a:avLst/>
          </a:prstGeom>
          <a:solidFill>
            <a:srgbClr val="EFF9FB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406640" y="28529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20040" y="3355848"/>
            <a:ext cx="228600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33832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history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606040" y="3355848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651760" y="33832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794760" y="3355848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840480" y="33832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983480" y="3355848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029200" y="33832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172200" y="3355848"/>
            <a:ext cx="1188720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217920" y="33832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360920" y="3355848"/>
            <a:ext cx="1463040" cy="502920"/>
          </a:xfrm>
          <a:prstGeom prst="rect">
            <a:avLst/>
          </a:prstGeom>
          <a:solidFill>
            <a:srgbClr val="EFF9FB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406640" y="33832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20040" y="3886200"/>
            <a:ext cx="22860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5760" y="39136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/ governance trail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606040" y="3886200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651760" y="39136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794760" y="3886200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840480" y="39136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983480" y="3886200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029200" y="39136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6172200" y="3886200"/>
            <a:ext cx="1188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217920" y="39136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7360920" y="3886200"/>
            <a:ext cx="1463040" cy="502920"/>
          </a:xfrm>
          <a:prstGeom prst="rect">
            <a:avLst/>
          </a:prstGeom>
          <a:solidFill>
            <a:srgbClr val="EFF9FB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406640" y="39136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F4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incumbent combines visualization, structured commentary, decision tracking, and institutional memory — this platform does.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640080" cy="1261872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795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850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WBR Efficiency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1612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Tech Company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914400"/>
            <a:ext cx="0" cy="100584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32 analyst hours per WBR cycle across 6 business units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280160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60% reduction in prep time · Decision history traceable months later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64008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5694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Readiness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511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(800 employees)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304288"/>
            <a:ext cx="0" cy="100584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2258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18-month regulatory audit requiring full risk escalation trail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670048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2715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 package in 2 days vs. est. 3 weeks · Zero gaps in trail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557016"/>
            <a:ext cx="640080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959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3630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Onboarding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9410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 Growth Company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694176"/>
            <a:ext cx="0" cy="100584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26280" y="36484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New CFO needed full business context from prior 12 months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4059936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41056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Onboarding from 6 weeks to 3 weeks · First MBR in Week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2196A6">
              <a:alpha val="20000"/>
            </a:srgbClr>
          </a:solidFill>
          <a:ln w="12700">
            <a:solidFill>
              <a:srgbClr val="2196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That Remembers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Business Learned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real-time dashboards with persistent decision tracking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01168" cy="201168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8986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architecture that scales from 10 to 10,000+ users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01168" cy="201168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incumbent tool closes both halves of the data-to-decision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201168" cy="201168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087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WBR makes the organization measurably smarter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APRIL 2026  |  AVAILABLE FOR FOLLOW-UP DISCUSSION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On-screen Show (16:9)</PresentationFormat>
  <Paragraphs>172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BI + Decision Layer Platform</dc:title>
  <dc:subject>PptxGenJS Presentation</dc:subject>
  <dc:creator>PptxGenJS</dc:creator>
  <cp:lastModifiedBy>Jesse Magat</cp:lastModifiedBy>
  <cp:revision>1</cp:revision>
  <dcterms:created xsi:type="dcterms:W3CDTF">2026-04-14T06:41:01Z</dcterms:created>
  <dcterms:modified xsi:type="dcterms:W3CDTF">2026-04-14T06:44:13Z</dcterms:modified>
</cp:coreProperties>
</file>